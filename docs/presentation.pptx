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Přivítání, 30 vteřin. Kdo jsem, co dostali za zadání (pipeline nad books datasetem + vizualizace) a co uvidí: architekturu, rozhodnutí nad daty a živé demo. Neslibovat detaily - rovnou do toho.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Teze celého řešení. Skript zpracuje dataset jednou a umře; já stavěl systém, který počítá s dalšími dávkami. Tři opory: Auto Loader (nová dávka = nový soubor, žádná změna kódu), všechno v gitu + Asset Bundle (workspace jde postavit znovu jedním příkazem), čistá transformační pravidla s 48 testy běžícími bez Databricks. Pointa dole: druhý zdroj mi to otestoval dřív, než jsem plánoval - dorazil ve dvou dávkách a pipeline je zpracovala sama.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Diagram projít zleva doprava, 90 vteřin. Dva zdroje do jedné landing zóny. Bronze = fakta jak přišla (append-only, stringy). Silver = rozhodnutí: typy, čistící pravidla, karanténa, spojení zdrojů. Gold = interpretace: slučování vydání, vážené žebříčky, 6 views podle zrnitosti. Nahoře z toho žije dashboard a Genie. Zdůraznit: každá vrstva má jednu odpovědnost - to se pak opírá o všechny další slidy.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Nejdřív jsem data profiloval - lokálně nad CSV, než jsem psal jediné pravidlo. Tabulku nečíst celou, vypíchnout tři věci: 62 % hodnocení jsou nuly a nula není známka (definice od autora datasetu - implicitní feedback); 10 % hodnocení míří na knihy, které v katalogu nejsou; a věk je uložený jako text '25.0', takže naivní cast selže na všem - málem jsem si zafixoval falešný závěr, opravil mě vlastní druhý pohled. Každý řádek tabulky = jedno pravidlo v silveru +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Moje pravidlo: mazat co nejméně. Vadný celý řádek jde do karantény s důvodem - 57 posunutých řádků leží v quarantine_books i s reason, nic nezmizelo beze stopy. Vadný atribut se NULLuje a řádek žije dál - uživatel se špatným věkem je pořád platný pro joiny. Nejdůležitější rozhodnutí: implicitní nuly zůstávají s příznakem is_explicit. Kvalita je odfiltruje, popularita je potřebuje. A sirotčí hodnocení zůstala taky - vadné není hodnocení, ale díra v katalogu. Díky tomu šla později opravit - další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řešení. 10 % hodnocení mířilo do prázdna - knihy chyběly v katalogu. Napsal jsem extraktor na Open Library Books API: batch dotazy po 50 ISBN, autentizace, resumable běh. Dohledal jsem 37 tisíc knih; sirotčích hodnocení ubylo o 62 % a 30 tisíc známek se vrátilo do žebříčků. Architektonická pointa: nový zdroj přitekl stejnou cestou jako Kaggle CSV - JSONL do landingu, Auto Loader, silver. Žádná přestavba. Bonus k tomu: z API si beru i žánry a stabilní ID autorů pro budoucí použití.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Medián hodnocení na knihu je 1! Prostý průměr by vynesl nahoru knihy s jedinou desítkou. Proto vážím bayesovsky - stejný vzorec, kterým IMDb staví Top 250: průměr knihy se mísí s globálním průměrem, váhy určuje počet známek. Parametr m=25 není z hlavy: odpovídá 99. percentilu rozdělení a citlivostní analýzou (m=10/25/50) jsem ověřil, že špička žebříčku stojí a mění se jen pozice 5-10. Kdyby padla otázka: m je míra nedůvěry k malým vzorkům, žádnou knihu nevyřazuje.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Tady přepínám do živého dashboardu. Nejdřív pointa na slidu: nejčtenější kniha datasetu je Wild Animus - 2 502 čtenářů a vážený rating 4,5. Rozdávala se zdarma, lidé ji zalogovali, známku nedali, a když dali, špatnou. Popularita a kvalita jsou dvě různé metriky - a proto jsme drželi implicitní nuly. V demu: KPI, oba žebříčky vedle sebe, slider let, žánrový výběr, na závěr otázka do Genie. Kdyby demo selhalo (wifi), tenhle a další slide nesou screenshoty.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Krátce k datovému modelu konzumní vrstvy - a přiznat vývoj: začal jsem s osmi views podle panelů dashboardu a při revizi je zredukoval na šest podle zrnitosti. Pravidlo: jedno view na grain, prezentační řezy (řazení, limity, parametry) dělají konzumenti. Proč limit nepatří do goldu: top 10 po filtru není filtrovaný top 10 - pre-limitovaná data rozbijí interaktivitu. Stejných 6 views krmí dashboard, ad-hoc SQL i Genie agenta.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Limity říkám sám, dřív než se zeptají. Hodnocení nemají čas - crawl je z podzimu 2004, takže 'top za období' interpretuji rokem vydání. Trend známek podle roku nese survivorship bias - ze starých ročníků přežily jen klasiky. Procento uživatelů vytvořilo polovinu dat. A slučování vydání přes název je heuristika s known-issues. Anekdota na konec: dvě 'středověké' knihy z roku 1376 jsou moderní íránské romány - rok prosákl v perském kalendáři. Přesně kvůli takovým věcem se dolní mez validace ověřuje daty.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Kudy dál, kdyby projekt žil. Škálování: silver inkrementálně (streaming z bronze, MERGE dimenzí), plný katalog z Open Library dumpů místo API, materializace pro výkon dashboardu. Datový model: skutečná entita autorů přes author_key, který už sbírám; SCD2 až bude zdroj živý - na statickém snapshotu by evidoval historii, která se neděje. Provoz: CI na testy, monitoring, alerting; produkčně Azure - ADLS Gen2, workspace na prostředí, nasazování stejným bundlem přes DevOps. U každé položky umím říct, proč ji dělám AŽ potom.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Závěr - tři věty, pomalu. Bronze drží fakta, silver dělá rozhodnutí, gold dělá interpretace; každé rozhodnutí doložím číslem, testem nebo deníkem v repu. Druhý zdroj přitekl stejnou cestou jako první - to je test architektury, ne dekorace. A všechno je v gitu, workspace je jen projekce repa. Poděkovat a otevřít diskusi.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1">
                <a:solidFill>
                  <a:srgbClr val="1A2332"/>
                </a:solidFill>
                <a:latin typeface="Calibri"/>
              </a:rPr>
              <a:t>Books Lakehouse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1089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5A6A7E"/>
                </a:solidFill>
                <a:latin typeface="Calibri"/>
              </a:rPr>
              <a:t>Bronze–silver–gold pipeline nad Book-Crossing datasetem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120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5A6A7E"/>
                </a:solidFill>
                <a:latin typeface="Calibri"/>
              </a:rPr>
              <a:t>Matěj Fogy · srpen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577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0B5394"/>
                </a:solidFill>
                <a:latin typeface="Calibri"/>
              </a:rPr>
              <a:t>1,15 mil. hodnocení  ·  307 914 knih  ·  dva zdroje  ·  Databricks Free Edition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A2332"/>
                </a:solidFill>
                <a:latin typeface="Calibri"/>
              </a:rPr>
              <a:t>Stavěl jsem pipeline, ne skript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234440"/>
            <a:ext cx="1463040" cy="28575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>
                <a:solidFill>
                  <a:srgbClr val="0B5394"/>
                </a:solidFill>
                <a:latin typeface="Calibri"/>
              </a:rPr>
              <a:t>•  Auto Loader</a:t>
            </a:r>
            <a:r>
              <a:rPr sz="1900">
                <a:solidFill>
                  <a:srgbClr val="1A2332"/>
                </a:solidFill>
                <a:latin typeface="Calibri"/>
              </a:rPr>
              <a:t> — nová dávka dat = nový soubor v landing zóně, žádná změna kódu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>
                <a:solidFill>
                  <a:srgbClr val="0B5394"/>
                </a:solidFill>
                <a:latin typeface="Calibri"/>
              </a:rPr>
              <a:t>•  Git + Asset Bundle</a:t>
            </a:r>
            <a:r>
              <a:rPr sz="1900">
                <a:solidFill>
                  <a:srgbClr val="1A2332"/>
                </a:solidFill>
                <a:latin typeface="Calibri"/>
              </a:rPr>
              <a:t> — celý projekt je kód; workspace jde kdykoli postavit znovu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>
                <a:solidFill>
                  <a:srgbClr val="0B5394"/>
                </a:solidFill>
                <a:latin typeface="Calibri"/>
              </a:rPr>
              <a:t>•  48 testů</a:t>
            </a:r>
            <a:r>
              <a:rPr sz="1900">
                <a:solidFill>
                  <a:srgbClr val="1A2332"/>
                </a:solidFill>
                <a:latin typeface="Calibri"/>
              </a:rPr>
              <a:t> — čistá transformační pravidla testovatelná bez Databricks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0B5394"/>
                </a:solidFill>
                <a:latin typeface="Calibri"/>
              </a:rPr>
              <a:t>Vyplatilo se dřív, než jsem čekal: druhý zdroj dorazil ve dvou dávkách</a:t>
            </a:r>
          </a:p>
          <a:p>
            <a:pPr algn="l">
              <a:lnSpc>
                <a:spcPct val="115000"/>
              </a:lnSpc>
            </a:pPr>
            <a:r>
              <a:rPr sz="1700" b="0">
                <a:solidFill>
                  <a:srgbClr val="0B5394"/>
                </a:solidFill>
                <a:latin typeface="Calibri"/>
              </a:rPr>
              <a:t>a pipeline ho zpracovala bez zásahu.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A2332"/>
                </a:solidFill>
                <a:latin typeface="Calibri"/>
              </a:rPr>
              <a:t>Medailonová architektura se dvěma zdroji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234440"/>
            <a:ext cx="1463040" cy="28575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737360"/>
            <a:ext cx="10515600" cy="4206240"/>
          </a:xfrm>
          <a:prstGeom prst="rect">
            <a:avLst/>
          </a:prstGeom>
          <a:solidFill>
            <a:srgbClr val="F0F1F3"/>
          </a:solidFill>
          <a:ln w="12700">
            <a:solidFill>
              <a:srgbClr val="5A6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5A6A7E"/>
                </a:solidFill>
                <a:latin typeface="Calibri"/>
              </a:rPr>
              <a:t>[ SCREENSHOT: architektonický diagram (docs/architecture.md) nebo lineage z Unity Catalogu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126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0B5394"/>
                </a:solidFill>
                <a:latin typeface="Calibri"/>
              </a:rPr>
              <a:t>bronze drží fakta  ·  silver dělá rozhodnutí  ·  gold dělá interpretace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A2332"/>
                </a:solidFill>
                <a:latin typeface="Calibri"/>
              </a:rPr>
              <a:t>Nejdřív jsem se díval do dat. Vyplatilo se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234440"/>
            <a:ext cx="1463040" cy="28575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737360"/>
          <a:ext cx="10515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0"/>
                <a:gridCol w="274320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nález</a:t>
                      </a:r>
                    </a:p>
                  </a:txBody>
                  <a:tcPr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rozsah</a:t>
                      </a:r>
                    </a:p>
                  </a:txBody>
                  <a:tcPr>
                    <a:solidFill>
                      <a:srgbClr val="0B539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2332"/>
                          </a:solidFill>
                          <a:latin typeface="Calibri"/>
                        </a:rPr>
                        <a:t>hodnocení „0“ = záznam bez známky (implicitní feedback)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2332"/>
                          </a:solidFill>
                          <a:latin typeface="Calibri"/>
                        </a:rPr>
                        <a:t>62,3 % všech řádků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2332"/>
                          </a:solidFill>
                          <a:latin typeface="Calibri"/>
                        </a:rPr>
                        <a:t>hodnocení knih, které v katalogu neexistují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2332"/>
                          </a:solidFill>
                          <a:latin typeface="Calibri"/>
                        </a:rPr>
                        <a:t>118 752  (10,3 %)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2332"/>
                          </a:solidFill>
                          <a:latin typeface="Calibri"/>
                        </a:rPr>
                        <a:t>rok vydání 0 nebo v budoucnosti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2332"/>
                          </a:solidFill>
                          <a:latin typeface="Calibri"/>
                        </a:rPr>
                        <a:t>4 629 knih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2332"/>
                          </a:solidFill>
                          <a:latin typeface="Calibri"/>
                        </a:rPr>
                        <a:t>věk jako text „25.0“ — přímý cast selže na všem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2332"/>
                          </a:solidFill>
                          <a:latin typeface="Calibri"/>
                        </a:rPr>
                        <a:t>100 % sloupce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2332"/>
                          </a:solidFill>
                          <a:latin typeface="Calibri"/>
                        </a:rPr>
                        <a:t>řádky rozbité escapováním uvozovek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2332"/>
                          </a:solidFill>
                          <a:latin typeface="Calibri"/>
                        </a:rPr>
                        <a:t>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2332"/>
                          </a:solidFill>
                          <a:latin typeface="Calibri"/>
                        </a:rPr>
                        <a:t>texty dvojitě zakódované už ve zdroji („ExupÃ©ry“)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2332"/>
                          </a:solidFill>
                          <a:latin typeface="Calibri"/>
                        </a:rPr>
                        <a:t>tisíce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0B5394"/>
                </a:solidFill>
                <a:latin typeface="Calibri"/>
              </a:rPr>
              <a:t>Každý řádek této tabulky se stal pravidlem v silver vrstvě — s testem.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A2332"/>
                </a:solidFill>
                <a:latin typeface="Calibri"/>
              </a:rPr>
              <a:t>Pravidlo pro špínu: mazat co nejméně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234440"/>
            <a:ext cx="1463040" cy="28575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B5394"/>
                </a:solidFill>
                <a:latin typeface="Calibri"/>
              </a:rPr>
              <a:t>•  Vadný řádek → karanténa s důvodem.</a:t>
            </a:r>
            <a:r>
              <a:rPr sz="1800">
                <a:solidFill>
                  <a:srgbClr val="1A2332"/>
                </a:solidFill>
                <a:latin typeface="Calibri"/>
              </a:rPr>
              <a:t> 57 posunutých řádků v quarantine_books, nic nemizí beze stopy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B5394"/>
                </a:solidFill>
                <a:latin typeface="Calibri"/>
              </a:rPr>
              <a:t>•  Vadný atribut → NULL.</a:t>
            </a:r>
            <a:r>
              <a:rPr sz="1800">
                <a:solidFill>
                  <a:srgbClr val="1A2332"/>
                </a:solidFill>
                <a:latin typeface="Calibri"/>
              </a:rPr>
              <a:t> Řádek žije dál — uživatel bez věku je pořád použitelný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B5394"/>
                </a:solidFill>
                <a:latin typeface="Calibri"/>
              </a:rPr>
              <a:t>•  Nula není známka.</a:t>
            </a:r>
            <a:r>
              <a:rPr sz="1800">
                <a:solidFill>
                  <a:srgbClr val="1A2332"/>
                </a:solidFill>
                <a:latin typeface="Calibri"/>
              </a:rPr>
              <a:t> Zůstává s příznakem is_explicit: kvalita ji filtruje, popularita ji potřebuje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B5394"/>
                </a:solidFill>
                <a:latin typeface="Calibri"/>
              </a:rPr>
              <a:t>•  Sirotčí hodnocení zůstávají.</a:t>
            </a:r>
            <a:r>
              <a:rPr sz="1800">
                <a:solidFill>
                  <a:srgbClr val="1A2332"/>
                </a:solidFill>
                <a:latin typeface="Calibri"/>
              </a:rPr>
              <a:t> Vadné není hodnocení, ale pokrytí katalogu — a to jde opravit…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A2332"/>
                </a:solidFill>
                <a:latin typeface="Calibri"/>
              </a:rPr>
              <a:t>Druhý zdroj neopravil vzhled, ale díru v datech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234440"/>
            <a:ext cx="1463040" cy="28575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737360"/>
          <a:ext cx="73152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011680"/>
                <a:gridCol w="2011680"/>
              </a:tblGrid>
              <a:tr h="365760">
                <a:tc>
                  <a:txBody>
                    <a:bodyPr/>
                    <a:lstStyle/>
                    <a:p/>
                  </a:txBody>
                  <a:tcPr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před</a:t>
                      </a:r>
                    </a:p>
                  </a:txBody>
                  <a:tcPr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po</a:t>
                      </a:r>
                    </a:p>
                  </a:txBody>
                  <a:tcPr>
                    <a:solidFill>
                      <a:srgbClr val="0B539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2332"/>
                          </a:solidFill>
                          <a:latin typeface="Calibri"/>
                        </a:rPr>
                        <a:t>knih v katalogu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2332"/>
                          </a:solidFill>
                          <a:latin typeface="Calibri"/>
                        </a:rPr>
                        <a:t>270 989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2332"/>
                          </a:solidFill>
                          <a:latin typeface="Calibri"/>
                        </a:rPr>
                        <a:t>307 914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2332"/>
                          </a:solidFill>
                          <a:latin typeface="Calibri"/>
                        </a:rPr>
                        <a:t>sirotčích hodnocení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2332"/>
                          </a:solidFill>
                          <a:latin typeface="Calibri"/>
                        </a:rPr>
                        <a:t>118 752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2332"/>
                          </a:solidFill>
                          <a:latin typeface="Calibri"/>
                        </a:rPr>
                        <a:t>44 589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2332"/>
                          </a:solidFill>
                          <a:latin typeface="Calibri"/>
                        </a:rPr>
                        <a:t>známek mimo žebříčky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2332"/>
                          </a:solidFill>
                          <a:latin typeface="Calibri"/>
                        </a:rPr>
                        <a:t>49 868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2332"/>
                          </a:solidFill>
                          <a:latin typeface="Calibri"/>
                        </a:rPr>
                        <a:t>19 718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42062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0B5394"/>
                </a:solidFill>
                <a:latin typeface="Calibri"/>
              </a:rPr>
              <a:t>Open Library API · vlastní extraktor (batch, auth, resumable)</a:t>
            </a:r>
          </a:p>
          <a:p>
            <a:pPr algn="l">
              <a:lnSpc>
                <a:spcPct val="115000"/>
              </a:lnSpc>
            </a:pPr>
            <a:r>
              <a:rPr sz="1700" b="0">
                <a:solidFill>
                  <a:srgbClr val="0B5394"/>
                </a:solidFill>
                <a:latin typeface="Calibri"/>
              </a:rPr>
              <a:t>Nový zdroj přitekl stejnou cestou jako první — architektura se nezměnila.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A2332"/>
                </a:solidFill>
                <a:latin typeface="Calibri"/>
              </a:rPr>
              <a:t>Malé vzorky lžou — žebříčky vážím bayesovsky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234440"/>
            <a:ext cx="1463040" cy="28575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0B5394"/>
                </a:solidFill>
                <a:latin typeface="Calibri"/>
              </a:rPr>
              <a:t>weighted  =  (v / (v+m)) · R   +   (m / (v+m)) ·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292608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0B5394"/>
                </a:solidFill>
                <a:latin typeface="Calibri"/>
              </a:rPr>
              <a:t>•  R</a:t>
            </a:r>
            <a:r>
              <a:rPr sz="1800">
                <a:solidFill>
                  <a:srgbClr val="1A2332"/>
                </a:solidFill>
                <a:latin typeface="Calibri"/>
              </a:rPr>
              <a:t> = průměr knihy,  C = 7,6 (globální průměr),  v = počet známek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0B5394"/>
                </a:solidFill>
                <a:latin typeface="Calibri"/>
              </a:rPr>
              <a:t>•  m = 25</a:t>
            </a:r>
            <a:r>
              <a:rPr sz="1800">
                <a:solidFill>
                  <a:srgbClr val="1A2332"/>
                </a:solidFill>
                <a:latin typeface="Calibri"/>
              </a:rPr>
              <a:t> ≈ 99. percentil rozdělení (medián známek na knihu je 1, p99 = 22)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0B5394"/>
                </a:solidFill>
                <a:latin typeface="Calibri"/>
              </a:rPr>
              <a:t>•  Citlivost m = 10/25/50:</a:t>
            </a:r>
            <a:r>
              <a:rPr sz="1800">
                <a:solidFill>
                  <a:srgbClr val="1A2332"/>
                </a:solidFill>
                <a:latin typeface="Calibri"/>
              </a:rPr>
              <a:t> špička stabilní, mění se jen pozice 5–10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A2332"/>
                </a:solidFill>
                <a:latin typeface="Calibri"/>
              </a:rPr>
              <a:t>Popularita není kvalita — data to umí ukázat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234440"/>
            <a:ext cx="1463040" cy="28575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737360"/>
          <a:ext cx="87782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1554480"/>
                <a:gridCol w="1554480"/>
                <a:gridCol w="1645920"/>
              </a:tblGrid>
              <a:tr h="365760">
                <a:tc>
                  <a:txBody>
                    <a:bodyPr/>
                    <a:lstStyle/>
                    <a:p/>
                  </a:txBody>
                  <a:tcPr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čtenářů</a:t>
                      </a:r>
                    </a:p>
                  </a:txBody>
                  <a:tcPr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známek</a:t>
                      </a:r>
                    </a:p>
                  </a:txBody>
                  <a:tcPr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vážený rating</a:t>
                      </a:r>
                    </a:p>
                  </a:txBody>
                  <a:tcPr>
                    <a:solidFill>
                      <a:srgbClr val="0B539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2332"/>
                          </a:solidFill>
                          <a:latin typeface="Calibri"/>
                        </a:rPr>
                        <a:t>Wild Animus (Shapero)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2332"/>
                          </a:solidFill>
                          <a:latin typeface="Calibri"/>
                        </a:rPr>
                        <a:t>2 502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2332"/>
                          </a:solidFill>
                          <a:latin typeface="Calibri"/>
                        </a:rPr>
                        <a:t>581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2332"/>
                          </a:solidFill>
                          <a:latin typeface="Calibri"/>
                        </a:rPr>
                        <a:t>4,52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2332"/>
                          </a:solidFill>
                          <a:latin typeface="Calibri"/>
                        </a:rPr>
                        <a:t>The Two Towers (Tolkien)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2332"/>
                          </a:solidFill>
                          <a:latin typeface="Calibri"/>
                        </a:rPr>
                        <a:t>260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2332"/>
                          </a:solidFill>
                          <a:latin typeface="Calibri"/>
                        </a:rPr>
                        <a:t>136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2332"/>
                          </a:solidFill>
                          <a:latin typeface="Calibri"/>
                        </a:rPr>
                        <a:t>9,07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822960" y="3657600"/>
            <a:ext cx="10515600" cy="2377440"/>
          </a:xfrm>
          <a:prstGeom prst="rect">
            <a:avLst/>
          </a:prstGeom>
          <a:solidFill>
            <a:srgbClr val="F0F1F3"/>
          </a:solidFill>
          <a:ln w="12700">
            <a:solidFill>
              <a:srgbClr val="5A6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5A6A7E"/>
                </a:solidFill>
                <a:latin typeface="Calibri"/>
              </a:rPr>
              <a:t>[ SCREENSHOT: dashboard — KPI řada + žebříčky kvality a popularity vedle sebe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17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0B5394"/>
                </a:solidFill>
                <a:latin typeface="Calibri"/>
              </a:rPr>
              <a:t>→ živé demo: dashboard · parametry období a žánru · Genie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A2332"/>
                </a:solidFill>
                <a:latin typeface="Calibri"/>
              </a:rPr>
              <a:t>Gold: jedno view na zrnitost, ne na graf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234440"/>
            <a:ext cx="1463040" cy="28575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737360"/>
          <a:ext cx="8778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9120"/>
                <a:gridCol w="438912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view</a:t>
                      </a:r>
                    </a:p>
                  </a:txBody>
                  <a:tcPr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zrnitost</a:t>
                      </a:r>
                    </a:p>
                  </a:txBody>
                  <a:tcPr>
                    <a:solidFill>
                      <a:srgbClr val="0B539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2332"/>
                          </a:solidFill>
                          <a:latin typeface="Calibri"/>
                        </a:rPr>
                        <a:t>v_books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2332"/>
                          </a:solidFill>
                          <a:latin typeface="Calibri"/>
                        </a:rPr>
                        <a:t>kniha (vydání sloučena)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2332"/>
                          </a:solidFill>
                          <a:latin typeface="Calibri"/>
                        </a:rPr>
                        <a:t>v_authors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2332"/>
                          </a:solidFill>
                          <a:latin typeface="Calibri"/>
                        </a:rPr>
                        <a:t>autor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2332"/>
                          </a:solidFill>
                          <a:latin typeface="Calibri"/>
                        </a:rPr>
                        <a:t>v_books_by_genre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2332"/>
                          </a:solidFill>
                          <a:latin typeface="Calibri"/>
                        </a:rPr>
                        <a:t>kniha × žánr (z enrichmentu)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2332"/>
                          </a:solidFill>
                          <a:latin typeface="Calibri"/>
                        </a:rPr>
                        <a:t>v_authors_by_year_publisher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2332"/>
                          </a:solidFill>
                          <a:latin typeface="Calibri"/>
                        </a:rPr>
                        <a:t>autor × rok × vydavatel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2332"/>
                          </a:solidFill>
                          <a:latin typeface="Calibri"/>
                        </a:rPr>
                        <a:t>v_avg_rating_by_year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2332"/>
                          </a:solidFill>
                          <a:latin typeface="Calibri"/>
                        </a:rPr>
                        <a:t>rok vydání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2332"/>
                          </a:solidFill>
                          <a:latin typeface="Calibri"/>
                        </a:rPr>
                        <a:t>v_kpi_summary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2332"/>
                          </a:solidFill>
                          <a:latin typeface="Calibri"/>
                        </a:rPr>
                        <a:t>celý dataset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5943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0B5394"/>
                </a:solidFill>
                <a:latin typeface="Calibri"/>
              </a:rPr>
              <a:t>Logika v goldu, řezy v konzumentech — top 10 po filtru ≠ filtrovaný top 10.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A2332"/>
                </a:solidFill>
                <a:latin typeface="Calibri"/>
              </a:rPr>
              <a:t>Co data neumí — a proč to vím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234440"/>
            <a:ext cx="1463040" cy="28575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1">
                <a:solidFill>
                  <a:srgbClr val="0B5394"/>
                </a:solidFill>
                <a:latin typeface="Calibri"/>
              </a:rPr>
              <a:t>•  Hodnocení nemají čas.</a:t>
            </a:r>
            <a:r>
              <a:rPr sz="1700">
                <a:solidFill>
                  <a:srgbClr val="1A2332"/>
                </a:solidFill>
                <a:latin typeface="Calibri"/>
              </a:rPr>
              <a:t> Crawl 09/2004 → „období“ = rok vydání, osy končí rokem 2004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1">
                <a:solidFill>
                  <a:srgbClr val="0B5394"/>
                </a:solidFill>
                <a:latin typeface="Calibri"/>
              </a:rPr>
              <a:t>•  Survivorship bias.</a:t>
            </a:r>
            <a:r>
              <a:rPr sz="1700">
                <a:solidFill>
                  <a:srgbClr val="1A2332"/>
                </a:solidFill>
                <a:latin typeface="Calibri"/>
              </a:rPr>
              <a:t> Staré ročníky vypadají lépe — přežily jen klasiky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1">
                <a:solidFill>
                  <a:srgbClr val="0B5394"/>
                </a:solidFill>
                <a:latin typeface="Calibri"/>
              </a:rPr>
              <a:t>•  1 % uživatelů = 48 % hodnocení.</a:t>
            </a:r>
            <a:r>
              <a:rPr sz="1700">
                <a:solidFill>
                  <a:srgbClr val="1A2332"/>
                </a:solidFill>
                <a:latin typeface="Calibri"/>
              </a:rPr>
              <a:t> Data popisují chování malé skupiny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1">
                <a:solidFill>
                  <a:srgbClr val="0B5394"/>
                </a:solidFill>
                <a:latin typeface="Calibri"/>
              </a:rPr>
              <a:t>•  Slučování vydání je heuristika.</a:t>
            </a:r>
            <a:r>
              <a:rPr sz="1700">
                <a:solidFill>
                  <a:srgbClr val="1A2332"/>
                </a:solidFill>
                <a:latin typeface="Calibri"/>
              </a:rPr>
              <a:t> „(Book 1)“ vs. „(Paperback)“ se nesloučí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1">
                <a:solidFill>
                  <a:srgbClr val="0B5394"/>
                </a:solidFill>
                <a:latin typeface="Calibri"/>
              </a:rPr>
              <a:t>•  Perský kalendář.</a:t>
            </a:r>
            <a:r>
              <a:rPr sz="1700">
                <a:solidFill>
                  <a:srgbClr val="1A2332"/>
                </a:solidFill>
                <a:latin typeface="Calibri"/>
              </a:rPr>
              <a:t> Dvě „středověké“ knihy z r. 1376 jsou moderní íránské romány (1376 SH ≈ 1997)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A2332"/>
                </a:solidFill>
                <a:latin typeface="Calibri"/>
              </a:rPr>
              <a:t>Kudy dál, kdyby projekt žil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234440"/>
            <a:ext cx="1463040" cy="28575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800" b="1">
                <a:solidFill>
                  <a:srgbClr val="0B5394"/>
                </a:solidFill>
                <a:latin typeface="Calibri"/>
              </a:rPr>
              <a:t>•  Škálování:</a:t>
            </a:r>
            <a:r>
              <a:rPr sz="1800">
                <a:solidFill>
                  <a:srgbClr val="1A2332"/>
                </a:solidFill>
                <a:latin typeface="Calibri"/>
              </a:rPr>
              <a:t> inkrementální silver (streaming + MERGE) · plný katalog z OL dumpů · materialized views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800" b="1">
                <a:solidFill>
                  <a:srgbClr val="0B5394"/>
                </a:solidFill>
                <a:latin typeface="Calibri"/>
              </a:rPr>
              <a:t>•  Datový model:</a:t>
            </a:r>
            <a:r>
              <a:rPr sz="1800">
                <a:solidFill>
                  <a:srgbClr val="1A2332"/>
                </a:solidFill>
                <a:latin typeface="Calibri"/>
              </a:rPr>
              <a:t> dim_authors se skutečnou identitou (author_key už sbírám) · SCD2 až u živého zdroje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800" b="1">
                <a:solidFill>
                  <a:srgbClr val="0B5394"/>
                </a:solidFill>
                <a:latin typeface="Calibri"/>
              </a:rPr>
              <a:t>•  Provoz:</a:t>
            </a:r>
            <a:r>
              <a:rPr sz="1800">
                <a:solidFill>
                  <a:srgbClr val="1A2332"/>
                </a:solidFill>
                <a:latin typeface="Calibri"/>
              </a:rPr>
              <a:t> CI na testy · monitoring a alerting · Azure: ADLS Gen2, prostředí, nasazení bundlem přes DevOps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A2332"/>
                </a:solidFill>
                <a:latin typeface="Calibri"/>
              </a:rPr>
              <a:t>Tři věty na závěr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234440"/>
            <a:ext cx="1463040" cy="28575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900" b="1">
                <a:solidFill>
                  <a:srgbClr val="0B5394"/>
                </a:solidFill>
                <a:latin typeface="Calibri"/>
              </a:rPr>
              <a:t>•  Bronze drží fakta, silver dělá rozhodnutí, gold dělá interpretace.</a:t>
            </a:r>
            <a:r>
              <a:rPr sz="1900">
                <a:solidFill>
                  <a:srgbClr val="1A2332"/>
                </a:solidFill>
                <a:latin typeface="Calibri"/>
              </a:rPr>
              <a:t> Každé rozhodnutí umím doložit.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900" b="1">
                <a:solidFill>
                  <a:srgbClr val="0B5394"/>
                </a:solidFill>
                <a:latin typeface="Calibri"/>
              </a:rPr>
              <a:t>•  Druhý zdroj přitekl stejnou cestou jako první.</a:t>
            </a:r>
            <a:r>
              <a:rPr sz="1900">
                <a:solidFill>
                  <a:srgbClr val="1A2332"/>
                </a:solidFill>
                <a:latin typeface="Calibri"/>
              </a:rPr>
              <a:t> Test architektury, ne dekorace.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900" b="1">
                <a:solidFill>
                  <a:srgbClr val="0B5394"/>
                </a:solidFill>
                <a:latin typeface="Calibri"/>
              </a:rPr>
              <a:t>•  Všechno je v gitu.</a:t>
            </a:r>
            <a:r>
              <a:rPr sz="1900">
                <a:solidFill>
                  <a:srgbClr val="1A2332"/>
                </a:solidFill>
                <a:latin typeface="Calibri"/>
              </a:rPr>
              <a:t> Workspace je jen projekce repa — nasazení jedním příkazem.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760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5A6A7E"/>
                </a:solidFill>
                <a:latin typeface="Calibri"/>
              </a:rPr>
              <a:t>github.com/fogm02/books-lakehouse  ·  celý postup: docs/journal.md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